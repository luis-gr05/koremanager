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  <p:embeddedFont>
      <p:font typeface="Open Sans Bold Italics" charset="1" panose="020B08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jpe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3.png" Type="http://schemas.openxmlformats.org/officeDocument/2006/relationships/image"/><Relationship Id="rId20" Target="../media/image32.png" Type="http://schemas.openxmlformats.org/officeDocument/2006/relationships/image"/><Relationship Id="rId21" Target="../media/image33.png" Type="http://schemas.openxmlformats.org/officeDocument/2006/relationships/image"/><Relationship Id="rId22" Target="../media/image34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43.png" Type="http://schemas.openxmlformats.org/officeDocument/2006/relationships/image"/><Relationship Id="rId15" Target="../media/image44.sv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jpeg" Type="http://schemas.openxmlformats.org/officeDocument/2006/relationships/image"/><Relationship Id="rId8" Target="https://kore-manager.vercel.app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0319" y="-4725161"/>
            <a:ext cx="22254601" cy="16607496"/>
          </a:xfrm>
          <a:custGeom>
            <a:avLst/>
            <a:gdLst/>
            <a:ahLst/>
            <a:cxnLst/>
            <a:rect r="r" b="b" t="t" l="l"/>
            <a:pathLst>
              <a:path h="16607496" w="22254601">
                <a:moveTo>
                  <a:pt x="0" y="0"/>
                </a:moveTo>
                <a:lnTo>
                  <a:pt x="22254601" y="0"/>
                </a:lnTo>
                <a:lnTo>
                  <a:pt x="22254601" y="16607496"/>
                </a:lnTo>
                <a:lnTo>
                  <a:pt x="0" y="1660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63184"/>
            <a:chOff x="0" y="0"/>
            <a:chExt cx="4816593" cy="27030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3061"/>
            </a:xfrm>
            <a:custGeom>
              <a:avLst/>
              <a:gdLst/>
              <a:ahLst/>
              <a:cxnLst/>
              <a:rect r="r" b="b" t="t" l="l"/>
              <a:pathLst>
                <a:path h="2703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3061"/>
                  </a:lnTo>
                  <a:lnTo>
                    <a:pt x="0" y="2703061"/>
                  </a:lnTo>
                  <a:close/>
                </a:path>
              </a:pathLst>
            </a:custGeom>
            <a:solidFill>
              <a:srgbClr val="2B2C76">
                <a:alpha val="7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1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47739" y="-614674"/>
            <a:ext cx="3992522" cy="7153268"/>
          </a:xfrm>
          <a:custGeom>
            <a:avLst/>
            <a:gdLst/>
            <a:ahLst/>
            <a:cxnLst/>
            <a:rect r="r" b="b" t="t" l="l"/>
            <a:pathLst>
              <a:path h="7153268" w="3992522">
                <a:moveTo>
                  <a:pt x="0" y="0"/>
                </a:moveTo>
                <a:lnTo>
                  <a:pt x="3992522" y="0"/>
                </a:lnTo>
                <a:lnTo>
                  <a:pt x="3992522" y="7153268"/>
                </a:lnTo>
                <a:lnTo>
                  <a:pt x="0" y="7153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03031" y="4972050"/>
            <a:ext cx="788193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Kore</a:t>
            </a:r>
            <a:r>
              <a:rPr lang="en-US" sz="92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Manager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2896" y="6514244"/>
            <a:ext cx="95622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Gestión Deportiva Municipal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83821" y="8344535"/>
            <a:ext cx="69203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Luis Gordillo Rodríguez - 2º DAW 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96783" y="8953500"/>
            <a:ext cx="309443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IES Albarregas - 25/26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>
            <a:off x="1028700" y="3016377"/>
            <a:ext cx="16230600" cy="895033"/>
          </a:xfrm>
          <a:custGeom>
            <a:avLst/>
            <a:gdLst/>
            <a:ahLst/>
            <a:cxnLst/>
            <a:rect r="r" b="b" t="t" l="l"/>
            <a:pathLst>
              <a:path h="895033" w="16230600">
                <a:moveTo>
                  <a:pt x="0" y="0"/>
                </a:moveTo>
                <a:lnTo>
                  <a:pt x="13953446" y="0"/>
                </a:lnTo>
                <a:cubicBezTo>
                  <a:pt x="14014075" y="0"/>
                  <a:pt x="14072220" y="24085"/>
                  <a:pt x="14115090" y="66955"/>
                </a:cubicBezTo>
                <a:cubicBezTo>
                  <a:pt x="14157962" y="109826"/>
                  <a:pt x="14182046" y="167971"/>
                  <a:pt x="14182046" y="228600"/>
                </a:cubicBezTo>
                <a:lnTo>
                  <a:pt x="14182046" y="666433"/>
                </a:lnTo>
                <a:cubicBezTo>
                  <a:pt x="14182046" y="792685"/>
                  <a:pt x="14284393" y="895033"/>
                  <a:pt x="14410646" y="895033"/>
                </a:cubicBezTo>
                <a:lnTo>
                  <a:pt x="16230600" y="895033"/>
                </a:lnTo>
              </a:path>
            </a:pathLst>
          </a:custGeom>
          <a:ln cap="flat" w="609600">
            <a:solidFill>
              <a:srgbClr val="9E65C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1028700" y="3892360"/>
            <a:ext cx="15175514" cy="908240"/>
          </a:xfrm>
          <a:custGeom>
            <a:avLst/>
            <a:gdLst/>
            <a:ahLst/>
            <a:cxnLst/>
            <a:rect r="r" b="b" t="t" l="l"/>
            <a:pathLst>
              <a:path h="908240" w="15175514">
                <a:moveTo>
                  <a:pt x="0" y="0"/>
                </a:moveTo>
                <a:lnTo>
                  <a:pt x="12851812" y="0"/>
                </a:lnTo>
                <a:cubicBezTo>
                  <a:pt x="12978065" y="0"/>
                  <a:pt x="13080412" y="102347"/>
                  <a:pt x="13080412" y="228600"/>
                </a:cubicBezTo>
                <a:lnTo>
                  <a:pt x="13080412" y="679640"/>
                </a:lnTo>
                <a:cubicBezTo>
                  <a:pt x="13080412" y="805892"/>
                  <a:pt x="13182760" y="908240"/>
                  <a:pt x="13309012" y="908240"/>
                </a:cubicBezTo>
                <a:lnTo>
                  <a:pt x="15175514" y="908240"/>
                </a:lnTo>
              </a:path>
            </a:pathLst>
          </a:custGeom>
          <a:ln cap="flat" w="609600">
            <a:solidFill>
              <a:srgbClr val="9E65C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1047750" y="4800600"/>
            <a:ext cx="14073879" cy="895033"/>
          </a:xfrm>
          <a:custGeom>
            <a:avLst/>
            <a:gdLst/>
            <a:ahLst/>
            <a:cxnLst/>
            <a:rect r="r" b="b" t="t" l="l"/>
            <a:pathLst>
              <a:path h="895033" w="14073879">
                <a:moveTo>
                  <a:pt x="0" y="0"/>
                </a:moveTo>
                <a:lnTo>
                  <a:pt x="11734662" y="0"/>
                </a:lnTo>
                <a:cubicBezTo>
                  <a:pt x="11860915" y="0"/>
                  <a:pt x="11963262" y="102348"/>
                  <a:pt x="11963262" y="228600"/>
                </a:cubicBezTo>
                <a:lnTo>
                  <a:pt x="11963262" y="666433"/>
                </a:lnTo>
                <a:cubicBezTo>
                  <a:pt x="11963262" y="792685"/>
                  <a:pt x="12065609" y="895033"/>
                  <a:pt x="12191862" y="895033"/>
                </a:cubicBezTo>
                <a:lnTo>
                  <a:pt x="14073879" y="895033"/>
                </a:lnTo>
              </a:path>
            </a:pathLst>
          </a:custGeom>
          <a:ln cap="flat" w="609600">
            <a:solidFill>
              <a:srgbClr val="6433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>
            <a:off x="1047750" y="5705158"/>
            <a:ext cx="13111890" cy="895033"/>
          </a:xfrm>
          <a:custGeom>
            <a:avLst/>
            <a:gdLst/>
            <a:ahLst/>
            <a:cxnLst/>
            <a:rect r="r" b="b" t="t" l="l"/>
            <a:pathLst>
              <a:path h="895033" w="13111890">
                <a:moveTo>
                  <a:pt x="0" y="0"/>
                </a:moveTo>
                <a:lnTo>
                  <a:pt x="10633028" y="0"/>
                </a:lnTo>
                <a:cubicBezTo>
                  <a:pt x="10693657" y="0"/>
                  <a:pt x="10751802" y="24084"/>
                  <a:pt x="10794672" y="66955"/>
                </a:cubicBezTo>
                <a:cubicBezTo>
                  <a:pt x="10837543" y="109826"/>
                  <a:pt x="10861628" y="167971"/>
                  <a:pt x="10861628" y="228600"/>
                </a:cubicBezTo>
                <a:lnTo>
                  <a:pt x="10861628" y="666432"/>
                </a:lnTo>
                <a:cubicBezTo>
                  <a:pt x="10861628" y="727061"/>
                  <a:pt x="10885712" y="785206"/>
                  <a:pt x="10928583" y="828077"/>
                </a:cubicBezTo>
                <a:cubicBezTo>
                  <a:pt x="10971454" y="870948"/>
                  <a:pt x="11029599" y="895032"/>
                  <a:pt x="11090228" y="895032"/>
                </a:cubicBezTo>
                <a:lnTo>
                  <a:pt x="13111890" y="895032"/>
                </a:lnTo>
              </a:path>
            </a:pathLst>
          </a:custGeom>
          <a:ln cap="flat" w="609600">
            <a:solidFill>
              <a:srgbClr val="6433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>
            <a:off x="1047750" y="6657658"/>
            <a:ext cx="12087834" cy="895032"/>
          </a:xfrm>
          <a:custGeom>
            <a:avLst/>
            <a:gdLst/>
            <a:ahLst/>
            <a:cxnLst/>
            <a:rect r="r" b="b" t="t" l="l"/>
            <a:pathLst>
              <a:path h="895032" w="12087834">
                <a:moveTo>
                  <a:pt x="0" y="0"/>
                </a:moveTo>
                <a:lnTo>
                  <a:pt x="9453814" y="0"/>
                </a:lnTo>
                <a:cubicBezTo>
                  <a:pt x="9580066" y="0"/>
                  <a:pt x="9682414" y="102348"/>
                  <a:pt x="9682414" y="228600"/>
                </a:cubicBezTo>
                <a:lnTo>
                  <a:pt x="9682414" y="666432"/>
                </a:lnTo>
                <a:cubicBezTo>
                  <a:pt x="9682414" y="727061"/>
                  <a:pt x="9706498" y="785206"/>
                  <a:pt x="9749369" y="828077"/>
                </a:cubicBezTo>
                <a:cubicBezTo>
                  <a:pt x="9792240" y="870948"/>
                  <a:pt x="9850385" y="895032"/>
                  <a:pt x="9911014" y="895032"/>
                </a:cubicBezTo>
                <a:lnTo>
                  <a:pt x="12087834" y="895032"/>
                </a:lnTo>
              </a:path>
            </a:pathLst>
          </a:custGeom>
          <a:ln cap="flat" w="609600">
            <a:solidFill>
              <a:srgbClr val="6433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1047750" y="7562215"/>
            <a:ext cx="11094813" cy="895033"/>
          </a:xfrm>
          <a:custGeom>
            <a:avLst/>
            <a:gdLst/>
            <a:ahLst/>
            <a:cxnLst/>
            <a:rect r="r" b="b" t="t" l="l"/>
            <a:pathLst>
              <a:path h="895033" w="11094813">
                <a:moveTo>
                  <a:pt x="0" y="0"/>
                </a:moveTo>
                <a:lnTo>
                  <a:pt x="8321147" y="0"/>
                </a:lnTo>
                <a:cubicBezTo>
                  <a:pt x="8381776" y="0"/>
                  <a:pt x="8439921" y="24085"/>
                  <a:pt x="8482792" y="66956"/>
                </a:cubicBezTo>
                <a:cubicBezTo>
                  <a:pt x="8525663" y="109826"/>
                  <a:pt x="8549747" y="167971"/>
                  <a:pt x="8549747" y="228600"/>
                </a:cubicBezTo>
                <a:lnTo>
                  <a:pt x="8549747" y="666433"/>
                </a:lnTo>
                <a:cubicBezTo>
                  <a:pt x="8549747" y="727062"/>
                  <a:pt x="8573832" y="785207"/>
                  <a:pt x="8616703" y="828078"/>
                </a:cubicBezTo>
                <a:cubicBezTo>
                  <a:pt x="8659573" y="870949"/>
                  <a:pt x="8717718" y="895033"/>
                  <a:pt x="8778347" y="895033"/>
                </a:cubicBezTo>
                <a:lnTo>
                  <a:pt x="11094813" y="895033"/>
                </a:lnTo>
              </a:path>
            </a:pathLst>
          </a:custGeom>
          <a:ln cap="flat" w="609600">
            <a:solidFill>
              <a:srgbClr val="3C16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1028700" y="8514715"/>
            <a:ext cx="10256950" cy="895033"/>
          </a:xfrm>
          <a:custGeom>
            <a:avLst/>
            <a:gdLst/>
            <a:ahLst/>
            <a:cxnLst/>
            <a:rect r="r" b="b" t="t" l="l"/>
            <a:pathLst>
              <a:path h="895033" w="10256950">
                <a:moveTo>
                  <a:pt x="0" y="0"/>
                </a:moveTo>
                <a:lnTo>
                  <a:pt x="7188481" y="0"/>
                </a:lnTo>
                <a:cubicBezTo>
                  <a:pt x="7249110" y="0"/>
                  <a:pt x="7307256" y="24085"/>
                  <a:pt x="7350126" y="66956"/>
                </a:cubicBezTo>
                <a:cubicBezTo>
                  <a:pt x="7392997" y="109826"/>
                  <a:pt x="7417081" y="167971"/>
                  <a:pt x="7417081" y="228600"/>
                </a:cubicBezTo>
                <a:lnTo>
                  <a:pt x="7417081" y="666433"/>
                </a:lnTo>
                <a:cubicBezTo>
                  <a:pt x="7417081" y="727062"/>
                  <a:pt x="7441166" y="785207"/>
                  <a:pt x="7484037" y="828078"/>
                </a:cubicBezTo>
                <a:cubicBezTo>
                  <a:pt x="7526907" y="870949"/>
                  <a:pt x="7585053" y="895033"/>
                  <a:pt x="7645681" y="895033"/>
                </a:cubicBezTo>
                <a:lnTo>
                  <a:pt x="10256950" y="895033"/>
                </a:lnTo>
              </a:path>
            </a:pathLst>
          </a:custGeom>
          <a:ln cap="flat" w="609600">
            <a:solidFill>
              <a:srgbClr val="3C16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259391" y="6940550"/>
            <a:ext cx="1999909" cy="2269439"/>
          </a:xfrm>
          <a:custGeom>
            <a:avLst/>
            <a:gdLst/>
            <a:ahLst/>
            <a:cxnLst/>
            <a:rect r="r" b="b" t="t" l="l"/>
            <a:pathLst>
              <a:path h="2269439" w="1999909">
                <a:moveTo>
                  <a:pt x="0" y="0"/>
                </a:moveTo>
                <a:lnTo>
                  <a:pt x="1999909" y="0"/>
                </a:lnTo>
                <a:lnTo>
                  <a:pt x="1999909" y="2269439"/>
                </a:lnTo>
                <a:lnTo>
                  <a:pt x="0" y="2269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857250"/>
            <a:ext cx="354166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Índice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9532" y="2665635"/>
            <a:ext cx="356964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1 - Introducción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9532" y="3529965"/>
            <a:ext cx="379764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2 - Base de datos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9532" y="4460557"/>
            <a:ext cx="675932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3 - Tecnologías y Arquitectura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532" y="5365115"/>
            <a:ext cx="445591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4 - Roles y Permisos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9532" y="6327140"/>
            <a:ext cx="373707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5 - Demo en vivo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9532" y="7226300"/>
            <a:ext cx="777507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6 - Escalabilidad y mejoras futuras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9532" y="8171815"/>
            <a:ext cx="450502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7 - Agradecimientos</a:t>
            </a:r>
          </a:p>
        </p:txBody>
      </p: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504296"/>
            <a:ext cx="6754004" cy="6754004"/>
          </a:xfrm>
          <a:custGeom>
            <a:avLst/>
            <a:gdLst/>
            <a:ahLst/>
            <a:cxnLst/>
            <a:rect r="r" b="b" t="t" l="l"/>
            <a:pathLst>
              <a:path h="6754004" w="6754004">
                <a:moveTo>
                  <a:pt x="0" y="0"/>
                </a:moveTo>
                <a:lnTo>
                  <a:pt x="6754004" y="0"/>
                </a:lnTo>
                <a:lnTo>
                  <a:pt x="6754004" y="6754004"/>
                </a:lnTo>
                <a:lnTo>
                  <a:pt x="0" y="6754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465122"/>
            <a:ext cx="6754004" cy="1296159"/>
            <a:chOff x="0" y="0"/>
            <a:chExt cx="1778832" cy="3413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8832" cy="341375"/>
            </a:xfrm>
            <a:custGeom>
              <a:avLst/>
              <a:gdLst/>
              <a:ahLst/>
              <a:cxnLst/>
              <a:rect r="r" b="b" t="t" l="l"/>
              <a:pathLst>
                <a:path h="341375" w="1778832">
                  <a:moveTo>
                    <a:pt x="13755" y="0"/>
                  </a:moveTo>
                  <a:lnTo>
                    <a:pt x="1765077" y="0"/>
                  </a:lnTo>
                  <a:cubicBezTo>
                    <a:pt x="1772674" y="0"/>
                    <a:pt x="1778832" y="6158"/>
                    <a:pt x="1778832" y="13755"/>
                  </a:cubicBezTo>
                  <a:lnTo>
                    <a:pt x="1778832" y="327620"/>
                  </a:lnTo>
                  <a:cubicBezTo>
                    <a:pt x="1778832" y="335217"/>
                    <a:pt x="1772674" y="341375"/>
                    <a:pt x="1765077" y="341375"/>
                  </a:cubicBezTo>
                  <a:lnTo>
                    <a:pt x="13755" y="341375"/>
                  </a:lnTo>
                  <a:cubicBezTo>
                    <a:pt x="6158" y="341375"/>
                    <a:pt x="0" y="335217"/>
                    <a:pt x="0" y="327620"/>
                  </a:cubicBezTo>
                  <a:lnTo>
                    <a:pt x="0" y="13755"/>
                  </a:lnTo>
                  <a:cubicBezTo>
                    <a:pt x="0" y="6158"/>
                    <a:pt x="6158" y="0"/>
                    <a:pt x="13755" y="0"/>
                  </a:cubicBezTo>
                  <a:close/>
                </a:path>
              </a:pathLst>
            </a:custGeom>
            <a:solidFill>
              <a:srgbClr val="3C16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8832" cy="3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7" t="-16666" r="0" b="-1922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14332595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1 - Introducción: ¿Por qué KoreManager?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22059" y="2824078"/>
            <a:ext cx="256728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problema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5375" y="4083224"/>
            <a:ext cx="6744479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Dobles reservas y conflictos de horario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Pérdida de tiempo para el personal de sala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Ninguna trazabilidad de pagos ni historial de uso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Inventario gestionado "de memoria"</a:t>
            </a:r>
          </a:p>
          <a:p>
            <a:pPr algn="l">
              <a:lnSpc>
                <a:spcPts val="392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405644" y="2504296"/>
            <a:ext cx="8958431" cy="7013257"/>
            <a:chOff x="0" y="0"/>
            <a:chExt cx="11944575" cy="93510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99537" y="0"/>
              <a:ext cx="9005338" cy="9005338"/>
            </a:xfrm>
            <a:custGeom>
              <a:avLst/>
              <a:gdLst/>
              <a:ahLst/>
              <a:cxnLst/>
              <a:rect r="r" b="b" t="t" l="l"/>
              <a:pathLst>
                <a:path h="9005338" w="9005338">
                  <a:moveTo>
                    <a:pt x="0" y="0"/>
                  </a:moveTo>
                  <a:lnTo>
                    <a:pt x="9005338" y="0"/>
                  </a:lnTo>
                  <a:lnTo>
                    <a:pt x="9005338" y="9005338"/>
                  </a:lnTo>
                  <a:lnTo>
                    <a:pt x="0" y="9005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2515505"/>
              <a:ext cx="1968950" cy="2006867"/>
            </a:xfrm>
            <a:custGeom>
              <a:avLst/>
              <a:gdLst/>
              <a:ahLst/>
              <a:cxnLst/>
              <a:rect r="r" b="b" t="t" l="l"/>
              <a:pathLst>
                <a:path h="2006867" w="1968950">
                  <a:moveTo>
                    <a:pt x="0" y="0"/>
                  </a:moveTo>
                  <a:lnTo>
                    <a:pt x="1968950" y="0"/>
                  </a:lnTo>
                  <a:lnTo>
                    <a:pt x="1968950" y="2006866"/>
                  </a:lnTo>
                  <a:lnTo>
                    <a:pt x="0" y="2006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2799537" y="0"/>
              <a:ext cx="9005338" cy="1728212"/>
              <a:chOff x="0" y="0"/>
              <a:chExt cx="1778832" cy="3413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78832" cy="341375"/>
              </a:xfrm>
              <a:custGeom>
                <a:avLst/>
                <a:gdLst/>
                <a:ahLst/>
                <a:cxnLst/>
                <a:rect r="r" b="b" t="t" l="l"/>
                <a:pathLst>
                  <a:path h="341375" w="1778832">
                    <a:moveTo>
                      <a:pt x="13755" y="0"/>
                    </a:moveTo>
                    <a:lnTo>
                      <a:pt x="1765077" y="0"/>
                    </a:lnTo>
                    <a:cubicBezTo>
                      <a:pt x="1772674" y="0"/>
                      <a:pt x="1778832" y="6158"/>
                      <a:pt x="1778832" y="13755"/>
                    </a:cubicBezTo>
                    <a:lnTo>
                      <a:pt x="1778832" y="327620"/>
                    </a:lnTo>
                    <a:cubicBezTo>
                      <a:pt x="1778832" y="335217"/>
                      <a:pt x="1772674" y="341375"/>
                      <a:pt x="1765077" y="341375"/>
                    </a:cubicBezTo>
                    <a:lnTo>
                      <a:pt x="13755" y="341375"/>
                    </a:lnTo>
                    <a:cubicBezTo>
                      <a:pt x="6158" y="341375"/>
                      <a:pt x="0" y="335217"/>
                      <a:pt x="0" y="327620"/>
                    </a:cubicBezTo>
                    <a:lnTo>
                      <a:pt x="0" y="13755"/>
                    </a:lnTo>
                    <a:cubicBezTo>
                      <a:pt x="0" y="6158"/>
                      <a:pt x="6158" y="0"/>
                      <a:pt x="13755" y="0"/>
                    </a:cubicBezTo>
                    <a:close/>
                  </a:path>
                </a:pathLst>
              </a:custGeom>
              <a:solidFill>
                <a:srgbClr val="3C165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778832" cy="379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689306" y="448600"/>
              <a:ext cx="3225800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 solución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951937" y="2124287"/>
              <a:ext cx="8992638" cy="7226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1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Reservas online en tiempo real con pago integrado</a:t>
              </a:r>
            </a:p>
            <a:p>
              <a:pPr algn="l" marL="604521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Control de inventario con stock actualizado automáticamente</a:t>
              </a:r>
            </a:p>
            <a:p>
              <a:pPr algn="l" marL="604521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Panel de administración con estadísticas de uso</a:t>
              </a:r>
            </a:p>
            <a:p>
              <a:pPr algn="l" marL="604521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Sistema de gamificación para fidelizar a los usuarios</a:t>
              </a:r>
            </a:p>
            <a:p>
              <a:pPr algn="l" marL="604521" indent="-302261" lvl="1">
                <a:lnSpc>
                  <a:spcPts val="392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</a:t>
              </a:r>
              <a:r>
                <a:rPr lang="en-US" b="true" sz="28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vatar personalizado generado con Inteligencia Artificial</a:t>
              </a:r>
            </a:p>
            <a:p>
              <a:pPr algn="l">
                <a:lnSpc>
                  <a:spcPts val="3920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532996"/>
            <a:ext cx="16230600" cy="5725304"/>
            <a:chOff x="0" y="0"/>
            <a:chExt cx="4274726" cy="15078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507899"/>
            </a:xfrm>
            <a:custGeom>
              <a:avLst/>
              <a:gdLst/>
              <a:ahLst/>
              <a:cxnLst/>
              <a:rect r="r" b="b" t="t" l="l"/>
              <a:pathLst>
                <a:path h="1507899" w="4274726">
                  <a:moveTo>
                    <a:pt x="3816" y="0"/>
                  </a:moveTo>
                  <a:lnTo>
                    <a:pt x="4270910" y="0"/>
                  </a:lnTo>
                  <a:cubicBezTo>
                    <a:pt x="4271922" y="0"/>
                    <a:pt x="4272893" y="402"/>
                    <a:pt x="4273608" y="1118"/>
                  </a:cubicBezTo>
                  <a:cubicBezTo>
                    <a:pt x="4274324" y="1833"/>
                    <a:pt x="4274726" y="2804"/>
                    <a:pt x="4274726" y="3816"/>
                  </a:cubicBezTo>
                  <a:lnTo>
                    <a:pt x="4274726" y="1504083"/>
                  </a:lnTo>
                  <a:cubicBezTo>
                    <a:pt x="4274726" y="1505095"/>
                    <a:pt x="4274324" y="1506066"/>
                    <a:pt x="4273608" y="1506781"/>
                  </a:cubicBezTo>
                  <a:cubicBezTo>
                    <a:pt x="4272893" y="1507497"/>
                    <a:pt x="4271922" y="1507899"/>
                    <a:pt x="4270910" y="1507899"/>
                  </a:cubicBezTo>
                  <a:lnTo>
                    <a:pt x="3816" y="1507899"/>
                  </a:lnTo>
                  <a:cubicBezTo>
                    <a:pt x="2804" y="1507899"/>
                    <a:pt x="1833" y="1507497"/>
                    <a:pt x="1118" y="1506781"/>
                  </a:cubicBezTo>
                  <a:cubicBezTo>
                    <a:pt x="402" y="1506066"/>
                    <a:pt x="0" y="1505095"/>
                    <a:pt x="0" y="1504083"/>
                  </a:cubicBezTo>
                  <a:lnTo>
                    <a:pt x="0" y="3816"/>
                  </a:lnTo>
                  <a:cubicBezTo>
                    <a:pt x="0" y="2804"/>
                    <a:pt x="402" y="1833"/>
                    <a:pt x="1118" y="1118"/>
                  </a:cubicBezTo>
                  <a:cubicBezTo>
                    <a:pt x="1833" y="402"/>
                    <a:pt x="2804" y="0"/>
                    <a:pt x="3816" y="0"/>
                  </a:cubicBezTo>
                  <a:close/>
                </a:path>
              </a:pathLst>
            </a:custGeom>
            <a:solidFill>
              <a:srgbClr val="0F0F1A"/>
            </a:solidFill>
            <a:ln w="38100" cap="sq">
              <a:solidFill>
                <a:srgbClr val="9E65C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54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45450" y="5817535"/>
            <a:ext cx="2629263" cy="2738816"/>
          </a:xfrm>
          <a:custGeom>
            <a:avLst/>
            <a:gdLst/>
            <a:ahLst/>
            <a:cxnLst/>
            <a:rect r="r" b="b" t="t" l="l"/>
            <a:pathLst>
              <a:path h="2738816" w="2629263">
                <a:moveTo>
                  <a:pt x="0" y="0"/>
                </a:moveTo>
                <a:lnTo>
                  <a:pt x="2629263" y="0"/>
                </a:lnTo>
                <a:lnTo>
                  <a:pt x="2629263" y="2738816"/>
                </a:lnTo>
                <a:lnTo>
                  <a:pt x="0" y="2738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11696998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1 - Introducción: 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puede hacer KoreManager?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0589" y="3749223"/>
            <a:ext cx="353898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DCAFF8"/>
                </a:solidFill>
                <a:latin typeface="Open Sans"/>
                <a:ea typeface="Open Sans"/>
                <a:cs typeface="Open Sans"/>
                <a:sym typeface="Open Sans"/>
              </a:rPr>
              <a:t>Reservas &amp; Pagos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1384" y="4272463"/>
            <a:ext cx="11290246" cy="467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Selección visual de instalación, fecha y franja horaria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Disponibil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idad en tiempo real (sin recargar la página)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 seguro integrado con Stripe (tarjeta de crédito)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Confirmación automática vía webhook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Historial completo con estados: </a:t>
            </a:r>
          </a:p>
          <a:p>
            <a:pPr algn="l" marL="1272106" indent="-424035" lvl="2">
              <a:lnSpc>
                <a:spcPts val="4124"/>
              </a:lnSpc>
              <a:buFont typeface="Arial"/>
              <a:buChar char="⚬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pendiente </a:t>
            </a:r>
          </a:p>
          <a:p>
            <a:pPr algn="l" marL="1272106" indent="-424035" lvl="2">
              <a:lnSpc>
                <a:spcPts val="4124"/>
              </a:lnSpc>
              <a:buFont typeface="Arial"/>
              <a:buChar char="⚬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pagada </a:t>
            </a:r>
          </a:p>
          <a:p>
            <a:pPr algn="l" marL="1272106" indent="-424035" lvl="2">
              <a:lnSpc>
                <a:spcPts val="4124"/>
              </a:lnSpc>
              <a:buFont typeface="Arial"/>
              <a:buChar char="⚬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cancelada</a:t>
            </a:r>
          </a:p>
          <a:p>
            <a:pPr algn="l">
              <a:lnSpc>
                <a:spcPts val="4124"/>
              </a:lnSpc>
            </a:pPr>
          </a:p>
        </p:txBody>
      </p:sp>
    </p:spTree>
  </p:cSld>
  <p:clrMapOvr>
    <a:masterClrMapping/>
  </p:clrMapOvr>
  <p:transition spd="fast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532996"/>
            <a:ext cx="16230600" cy="5725304"/>
            <a:chOff x="0" y="0"/>
            <a:chExt cx="4274726" cy="15078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507899"/>
            </a:xfrm>
            <a:custGeom>
              <a:avLst/>
              <a:gdLst/>
              <a:ahLst/>
              <a:cxnLst/>
              <a:rect r="r" b="b" t="t" l="l"/>
              <a:pathLst>
                <a:path h="1507899" w="4274726">
                  <a:moveTo>
                    <a:pt x="3816" y="0"/>
                  </a:moveTo>
                  <a:lnTo>
                    <a:pt x="4270910" y="0"/>
                  </a:lnTo>
                  <a:cubicBezTo>
                    <a:pt x="4271922" y="0"/>
                    <a:pt x="4272893" y="402"/>
                    <a:pt x="4273608" y="1118"/>
                  </a:cubicBezTo>
                  <a:cubicBezTo>
                    <a:pt x="4274324" y="1833"/>
                    <a:pt x="4274726" y="2804"/>
                    <a:pt x="4274726" y="3816"/>
                  </a:cubicBezTo>
                  <a:lnTo>
                    <a:pt x="4274726" y="1504083"/>
                  </a:lnTo>
                  <a:cubicBezTo>
                    <a:pt x="4274726" y="1505095"/>
                    <a:pt x="4274324" y="1506066"/>
                    <a:pt x="4273608" y="1506781"/>
                  </a:cubicBezTo>
                  <a:cubicBezTo>
                    <a:pt x="4272893" y="1507497"/>
                    <a:pt x="4271922" y="1507899"/>
                    <a:pt x="4270910" y="1507899"/>
                  </a:cubicBezTo>
                  <a:lnTo>
                    <a:pt x="3816" y="1507899"/>
                  </a:lnTo>
                  <a:cubicBezTo>
                    <a:pt x="2804" y="1507899"/>
                    <a:pt x="1833" y="1507497"/>
                    <a:pt x="1118" y="1506781"/>
                  </a:cubicBezTo>
                  <a:cubicBezTo>
                    <a:pt x="402" y="1506066"/>
                    <a:pt x="0" y="1505095"/>
                    <a:pt x="0" y="1504083"/>
                  </a:cubicBezTo>
                  <a:lnTo>
                    <a:pt x="0" y="3816"/>
                  </a:lnTo>
                  <a:cubicBezTo>
                    <a:pt x="0" y="2804"/>
                    <a:pt x="402" y="1833"/>
                    <a:pt x="1118" y="1118"/>
                  </a:cubicBezTo>
                  <a:cubicBezTo>
                    <a:pt x="1833" y="402"/>
                    <a:pt x="2804" y="0"/>
                    <a:pt x="3816" y="0"/>
                  </a:cubicBezTo>
                  <a:close/>
                </a:path>
              </a:pathLst>
            </a:custGeom>
            <a:solidFill>
              <a:srgbClr val="0F0F1A"/>
            </a:solidFill>
            <a:ln w="38100" cap="sq">
              <a:solidFill>
                <a:srgbClr val="CCFF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54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21492" y="5791383"/>
            <a:ext cx="2738816" cy="2738816"/>
          </a:xfrm>
          <a:custGeom>
            <a:avLst/>
            <a:gdLst/>
            <a:ahLst/>
            <a:cxnLst/>
            <a:rect r="r" b="b" t="t" l="l"/>
            <a:pathLst>
              <a:path h="2738816" w="2738816">
                <a:moveTo>
                  <a:pt x="0" y="0"/>
                </a:moveTo>
                <a:lnTo>
                  <a:pt x="2738816" y="0"/>
                </a:lnTo>
                <a:lnTo>
                  <a:pt x="2738816" y="2738816"/>
                </a:lnTo>
                <a:lnTo>
                  <a:pt x="0" y="2738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11696998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1 - Introducción: 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puede hacer KoreManager?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706043"/>
            <a:ext cx="486276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CCFF00"/>
                </a:solidFill>
                <a:latin typeface="Open Sans"/>
                <a:ea typeface="Open Sans"/>
                <a:cs typeface="Open Sans"/>
                <a:sym typeface="Open Sans"/>
              </a:rPr>
              <a:t>Gestión y administración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1384" y="4272463"/>
            <a:ext cx="10604446" cy="4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Panel de administración con estadística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globales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CRUD 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instalaciones (crear, editar, activar/desactivar)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ontrol de inventario con ajuste de stock en tiempo real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Publ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icación de avisos visibles para todos los usuarios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estión de roles de usuario</a:t>
            </a:r>
          </a:p>
          <a:p>
            <a:pPr algn="l">
              <a:lnSpc>
                <a:spcPts val="412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532996"/>
            <a:ext cx="16230600" cy="5725304"/>
            <a:chOff x="0" y="0"/>
            <a:chExt cx="4274726" cy="15078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507899"/>
            </a:xfrm>
            <a:custGeom>
              <a:avLst/>
              <a:gdLst/>
              <a:ahLst/>
              <a:cxnLst/>
              <a:rect r="r" b="b" t="t" l="l"/>
              <a:pathLst>
                <a:path h="1507899" w="4274726">
                  <a:moveTo>
                    <a:pt x="3816" y="0"/>
                  </a:moveTo>
                  <a:lnTo>
                    <a:pt x="4270910" y="0"/>
                  </a:lnTo>
                  <a:cubicBezTo>
                    <a:pt x="4271922" y="0"/>
                    <a:pt x="4272893" y="402"/>
                    <a:pt x="4273608" y="1118"/>
                  </a:cubicBezTo>
                  <a:cubicBezTo>
                    <a:pt x="4274324" y="1833"/>
                    <a:pt x="4274726" y="2804"/>
                    <a:pt x="4274726" y="3816"/>
                  </a:cubicBezTo>
                  <a:lnTo>
                    <a:pt x="4274726" y="1504083"/>
                  </a:lnTo>
                  <a:cubicBezTo>
                    <a:pt x="4274726" y="1505095"/>
                    <a:pt x="4274324" y="1506066"/>
                    <a:pt x="4273608" y="1506781"/>
                  </a:cubicBezTo>
                  <a:cubicBezTo>
                    <a:pt x="4272893" y="1507497"/>
                    <a:pt x="4271922" y="1507899"/>
                    <a:pt x="4270910" y="1507899"/>
                  </a:cubicBezTo>
                  <a:lnTo>
                    <a:pt x="3816" y="1507899"/>
                  </a:lnTo>
                  <a:cubicBezTo>
                    <a:pt x="2804" y="1507899"/>
                    <a:pt x="1833" y="1507497"/>
                    <a:pt x="1118" y="1506781"/>
                  </a:cubicBezTo>
                  <a:cubicBezTo>
                    <a:pt x="402" y="1506066"/>
                    <a:pt x="0" y="1505095"/>
                    <a:pt x="0" y="1504083"/>
                  </a:cubicBezTo>
                  <a:lnTo>
                    <a:pt x="0" y="3816"/>
                  </a:lnTo>
                  <a:cubicBezTo>
                    <a:pt x="0" y="2804"/>
                    <a:pt x="402" y="1833"/>
                    <a:pt x="1118" y="1118"/>
                  </a:cubicBezTo>
                  <a:cubicBezTo>
                    <a:pt x="1833" y="402"/>
                    <a:pt x="2804" y="0"/>
                    <a:pt x="3816" y="0"/>
                  </a:cubicBezTo>
                  <a:close/>
                </a:path>
              </a:pathLst>
            </a:custGeom>
            <a:solidFill>
              <a:srgbClr val="0F0F1A"/>
            </a:solidFill>
            <a:ln w="38100" cap="sq">
              <a:solidFill>
                <a:srgbClr val="9E65C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154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27850" y="5474635"/>
            <a:ext cx="2930639" cy="2738816"/>
          </a:xfrm>
          <a:custGeom>
            <a:avLst/>
            <a:gdLst/>
            <a:ahLst/>
            <a:cxnLst/>
            <a:rect r="r" b="b" t="t" l="l"/>
            <a:pathLst>
              <a:path h="2738816" w="2930639">
                <a:moveTo>
                  <a:pt x="0" y="0"/>
                </a:moveTo>
                <a:lnTo>
                  <a:pt x="2930639" y="0"/>
                </a:lnTo>
                <a:lnTo>
                  <a:pt x="2930639" y="2738816"/>
                </a:lnTo>
                <a:lnTo>
                  <a:pt x="0" y="2738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11696998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1 - Introducción: 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puede hacer KoreManager?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0836" y="4006081"/>
            <a:ext cx="40046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DCAFF8"/>
                </a:solidFill>
                <a:latin typeface="Open Sans"/>
                <a:ea typeface="Open Sans"/>
                <a:cs typeface="Open Sans"/>
                <a:sym typeface="Open Sans"/>
              </a:rPr>
              <a:t>Experiencia Usuario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1384" y="4272463"/>
            <a:ext cx="10604446" cy="310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Modo oscuro / claro + internacionalización ES/EN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de nive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 y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logros (gamificación)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Avatar artístico generado con IA (Google Vertex AI)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responsive: móvil, tablet y escritorio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Notificaciones toast en tiempo real</a:t>
            </a:r>
          </a:p>
          <a:p>
            <a:pPr algn="l">
              <a:lnSpc>
                <a:spcPts val="412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5907405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2 - Base de datos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98596" y="2085196"/>
            <a:ext cx="616600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9E65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 + Sup</a:t>
            </a:r>
            <a:r>
              <a:rPr lang="en-US" b="true" sz="4200">
                <a:solidFill>
                  <a:srgbClr val="9E65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98596" y="3026266"/>
            <a:ext cx="15160704" cy="461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94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núcleo de datos cuenta con 11 tablas relacionales y seguridad por diseño.</a:t>
            </a:r>
          </a:p>
          <a:p>
            <a:pPr algn="l">
              <a:lnSpc>
                <a:spcPts val="4124"/>
              </a:lnSpc>
            </a:pP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Seguridad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Row Leve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 Security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(RLS) con 20 políticas activas. Cada usuario solo ve sus propios datos.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Lógica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Triggers y funciones RPC gestionan disponibilidad e inventario en el servidor.</a:t>
            </a:r>
          </a:p>
          <a:p>
            <a:pPr algn="l" marL="636053" indent="-318026" lvl="1">
              <a:lnSpc>
                <a:spcPts val="4124"/>
              </a:lnSpc>
              <a:buFont typeface="Arial"/>
              <a:buChar char="•"/>
            </a:pPr>
            <a:r>
              <a:rPr lang="en-US" b="true" sz="2946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Res</a:t>
            </a:r>
            <a:r>
              <a:rPr lang="en-US" b="true" sz="2946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tricciones claves</a:t>
            </a:r>
            <a:r>
              <a:rPr lang="en-US" b="true" sz="29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UNIQUE(instalacion, fecha, hora) imposibilita las dobles reservas a nivel de base de datos.</a:t>
            </a:r>
          </a:p>
          <a:p>
            <a:pPr algn="l">
              <a:lnSpc>
                <a:spcPts val="412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4312" y="-13159"/>
            <a:ext cx="18487233" cy="10300159"/>
          </a:xfrm>
          <a:custGeom>
            <a:avLst/>
            <a:gdLst/>
            <a:ahLst/>
            <a:cxnLst/>
            <a:rect r="r" b="b" t="t" l="l"/>
            <a:pathLst>
              <a:path h="10300159" w="18487233">
                <a:moveTo>
                  <a:pt x="0" y="0"/>
                </a:moveTo>
                <a:lnTo>
                  <a:pt x="18487232" y="0"/>
                </a:lnTo>
                <a:lnTo>
                  <a:pt x="18487232" y="10300159"/>
                </a:lnTo>
                <a:lnTo>
                  <a:pt x="0" y="1030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9" r="0" b="-207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277202" y="5143500"/>
            <a:ext cx="3982098" cy="3446938"/>
            <a:chOff x="0" y="0"/>
            <a:chExt cx="5309464" cy="459591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58605" y="158432"/>
              <a:ext cx="4982065" cy="2583284"/>
              <a:chOff x="0" y="0"/>
              <a:chExt cx="1892672" cy="98138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892672" cy="981382"/>
              </a:xfrm>
              <a:custGeom>
                <a:avLst/>
                <a:gdLst/>
                <a:ahLst/>
                <a:cxnLst/>
                <a:rect r="r" b="b" t="t" l="l"/>
                <a:pathLst>
                  <a:path h="981382" w="1892672">
                    <a:moveTo>
                      <a:pt x="0" y="0"/>
                    </a:moveTo>
                    <a:lnTo>
                      <a:pt x="1892672" y="0"/>
                    </a:lnTo>
                    <a:lnTo>
                      <a:pt x="1892672" y="981382"/>
                    </a:lnTo>
                    <a:lnTo>
                      <a:pt x="0" y="98138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892672" cy="10194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58605" y="2783266"/>
              <a:ext cx="4982065" cy="621468"/>
              <a:chOff x="0" y="0"/>
              <a:chExt cx="1892672" cy="23609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892672" cy="236094"/>
              </a:xfrm>
              <a:custGeom>
                <a:avLst/>
                <a:gdLst/>
                <a:ahLst/>
                <a:cxnLst/>
                <a:rect r="r" b="b" t="t" l="l"/>
                <a:pathLst>
                  <a:path h="236094" w="1892672">
                    <a:moveTo>
                      <a:pt x="0" y="0"/>
                    </a:moveTo>
                    <a:lnTo>
                      <a:pt x="1892672" y="0"/>
                    </a:lnTo>
                    <a:lnTo>
                      <a:pt x="1892672" y="236094"/>
                    </a:lnTo>
                    <a:lnTo>
                      <a:pt x="0" y="23609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892672" cy="2741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99275" cy="4595917"/>
            </a:xfrm>
            <a:custGeom>
              <a:avLst/>
              <a:gdLst/>
              <a:ahLst/>
              <a:cxnLst/>
              <a:rect r="r" b="b" t="t" l="l"/>
              <a:pathLst>
                <a:path h="4595917" w="5299275">
                  <a:moveTo>
                    <a:pt x="0" y="0"/>
                  </a:moveTo>
                  <a:lnTo>
                    <a:pt x="5299275" y="0"/>
                  </a:lnTo>
                  <a:lnTo>
                    <a:pt x="5299275" y="4595917"/>
                  </a:lnTo>
                  <a:lnTo>
                    <a:pt x="0" y="4595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0188" y="2887351"/>
              <a:ext cx="5299275" cy="38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5"/>
                </a:lnSpc>
              </a:pPr>
              <a:r>
                <a:rPr lang="en-US" b="true" sz="1767">
                  <a:solidFill>
                    <a:srgbClr val="0F0F1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FRONTEND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362903" y="356132"/>
              <a:ext cx="1454719" cy="507829"/>
            </a:xfrm>
            <a:custGeom>
              <a:avLst/>
              <a:gdLst/>
              <a:ahLst/>
              <a:cxnLst/>
              <a:rect r="r" b="b" t="t" l="l"/>
              <a:pathLst>
                <a:path h="507829" w="1454719">
                  <a:moveTo>
                    <a:pt x="0" y="0"/>
                  </a:moveTo>
                  <a:lnTo>
                    <a:pt x="1454719" y="0"/>
                  </a:lnTo>
                  <a:lnTo>
                    <a:pt x="1454719" y="507829"/>
                  </a:lnTo>
                  <a:lnTo>
                    <a:pt x="0" y="507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359812" y="395381"/>
              <a:ext cx="613332" cy="429332"/>
            </a:xfrm>
            <a:custGeom>
              <a:avLst/>
              <a:gdLst/>
              <a:ahLst/>
              <a:cxnLst/>
              <a:rect r="r" b="b" t="t" l="l"/>
              <a:pathLst>
                <a:path h="429332" w="613332">
                  <a:moveTo>
                    <a:pt x="0" y="0"/>
                  </a:moveTo>
                  <a:lnTo>
                    <a:pt x="613332" y="0"/>
                  </a:lnTo>
                  <a:lnTo>
                    <a:pt x="613332" y="429332"/>
                  </a:lnTo>
                  <a:lnTo>
                    <a:pt x="0" y="429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087172" y="439990"/>
              <a:ext cx="1868564" cy="38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5"/>
                </a:lnSpc>
              </a:pPr>
              <a:r>
                <a:rPr lang="en-US" b="true" sz="1767">
                  <a:solidFill>
                    <a:srgbClr val="00D8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Tailwind CSS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183830" y="1062066"/>
              <a:ext cx="1918563" cy="1079191"/>
            </a:xfrm>
            <a:custGeom>
              <a:avLst/>
              <a:gdLst/>
              <a:ahLst/>
              <a:cxnLst/>
              <a:rect r="r" b="b" t="t" l="l"/>
              <a:pathLst>
                <a:path h="1079191" w="1918563">
                  <a:moveTo>
                    <a:pt x="0" y="0"/>
                  </a:moveTo>
                  <a:lnTo>
                    <a:pt x="1918563" y="0"/>
                  </a:lnTo>
                  <a:lnTo>
                    <a:pt x="1918563" y="1079191"/>
                  </a:lnTo>
                  <a:lnTo>
                    <a:pt x="0" y="1079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189703" y="1136632"/>
              <a:ext cx="930058" cy="930058"/>
            </a:xfrm>
            <a:custGeom>
              <a:avLst/>
              <a:gdLst/>
              <a:ahLst/>
              <a:cxnLst/>
              <a:rect r="r" b="b" t="t" l="l"/>
              <a:pathLst>
                <a:path h="930058" w="930058">
                  <a:moveTo>
                    <a:pt x="0" y="0"/>
                  </a:moveTo>
                  <a:lnTo>
                    <a:pt x="930058" y="0"/>
                  </a:lnTo>
                  <a:lnTo>
                    <a:pt x="930058" y="930058"/>
                  </a:lnTo>
                  <a:lnTo>
                    <a:pt x="0" y="930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3065050" y="1395012"/>
              <a:ext cx="1983134" cy="38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5"/>
                </a:lnSpc>
                <a:spcBef>
                  <a:spcPct val="0"/>
                </a:spcBef>
              </a:pPr>
              <a:r>
                <a:rPr lang="en-US" b="true" sz="1767">
                  <a:solidFill>
                    <a:srgbClr val="01968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react-i18next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5143500"/>
            <a:ext cx="2813862" cy="3566176"/>
            <a:chOff x="0" y="0"/>
            <a:chExt cx="3751816" cy="475490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48819" y="471215"/>
              <a:ext cx="2295280" cy="3797218"/>
              <a:chOff x="0" y="0"/>
              <a:chExt cx="812800" cy="134466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1344663"/>
              </a:xfrm>
              <a:custGeom>
                <a:avLst/>
                <a:gdLst/>
                <a:ahLst/>
                <a:cxnLst/>
                <a:rect r="r" b="b" t="t" l="l"/>
                <a:pathLst>
                  <a:path h="134466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344663"/>
                    </a:lnTo>
                    <a:lnTo>
                      <a:pt x="0" y="134466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12800" cy="1373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161280" y="362634"/>
              <a:ext cx="2295280" cy="4013426"/>
              <a:chOff x="0" y="0"/>
              <a:chExt cx="812800" cy="142122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1421226"/>
              </a:xfrm>
              <a:custGeom>
                <a:avLst/>
                <a:gdLst/>
                <a:ahLst/>
                <a:cxnLst/>
                <a:rect r="r" b="b" t="t" l="l"/>
                <a:pathLst>
                  <a:path h="1421226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21226"/>
                    </a:lnTo>
                    <a:lnTo>
                      <a:pt x="0" y="142122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812800" cy="14498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28268" y="222386"/>
              <a:ext cx="2295280" cy="4283687"/>
              <a:chOff x="0" y="0"/>
              <a:chExt cx="812800" cy="151693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1516930"/>
              </a:xfrm>
              <a:custGeom>
                <a:avLst/>
                <a:gdLst/>
                <a:ahLst/>
                <a:cxnLst/>
                <a:rect r="r" b="b" t="t" l="l"/>
                <a:pathLst>
                  <a:path h="151693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930"/>
                    </a:lnTo>
                    <a:lnTo>
                      <a:pt x="0" y="15169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812800" cy="15455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51816" cy="4754901"/>
            </a:xfrm>
            <a:custGeom>
              <a:avLst/>
              <a:gdLst/>
              <a:ahLst/>
              <a:cxnLst/>
              <a:rect r="r" b="b" t="t" l="l"/>
              <a:pathLst>
                <a:path h="4754901" w="3751816">
                  <a:moveTo>
                    <a:pt x="0" y="0"/>
                  </a:moveTo>
                  <a:lnTo>
                    <a:pt x="3751816" y="0"/>
                  </a:lnTo>
                  <a:lnTo>
                    <a:pt x="3751816" y="4754901"/>
                  </a:lnTo>
                  <a:lnTo>
                    <a:pt x="0" y="47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5967" y="1468425"/>
              <a:ext cx="3199882" cy="810781"/>
            </a:xfrm>
            <a:custGeom>
              <a:avLst/>
              <a:gdLst/>
              <a:ahLst/>
              <a:cxnLst/>
              <a:rect r="r" b="b" t="t" l="l"/>
              <a:pathLst>
                <a:path h="810781" w="3199882">
                  <a:moveTo>
                    <a:pt x="0" y="0"/>
                  </a:moveTo>
                  <a:lnTo>
                    <a:pt x="3199882" y="0"/>
                  </a:lnTo>
                  <a:lnTo>
                    <a:pt x="3199882" y="810781"/>
                  </a:lnTo>
                  <a:lnTo>
                    <a:pt x="0" y="810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32182" t="-116405" r="-31898" b="-12276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88308" y="2608402"/>
              <a:ext cx="1775200" cy="823249"/>
            </a:xfrm>
            <a:custGeom>
              <a:avLst/>
              <a:gdLst/>
              <a:ahLst/>
              <a:cxnLst/>
              <a:rect r="r" b="b" t="t" l="l"/>
              <a:pathLst>
                <a:path h="823249" w="1775200">
                  <a:moveTo>
                    <a:pt x="0" y="0"/>
                  </a:moveTo>
                  <a:lnTo>
                    <a:pt x="1775200" y="0"/>
                  </a:lnTo>
                  <a:lnTo>
                    <a:pt x="1775200" y="823249"/>
                  </a:lnTo>
                  <a:lnTo>
                    <a:pt x="0" y="823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398380" y="3738474"/>
              <a:ext cx="1477528" cy="21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0"/>
                </a:lnSpc>
                <a:spcBef>
                  <a:spcPct val="0"/>
                </a:spcBef>
              </a:pPr>
              <a:r>
                <a:rPr lang="en-US" b="true" sz="98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SUPABASE CLOUD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137144" y="4056085"/>
              <a:ext cx="1447066" cy="21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0"/>
                </a:lnSpc>
                <a:spcBef>
                  <a:spcPct val="0"/>
                </a:spcBef>
              </a:pPr>
              <a:r>
                <a:rPr lang="en-US" b="true" sz="98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EDGE FUNCTIONS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294833" y="3738474"/>
              <a:ext cx="822475" cy="21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0"/>
                </a:lnSpc>
                <a:spcBef>
                  <a:spcPct val="0"/>
                </a:spcBef>
              </a:pPr>
              <a:r>
                <a:rPr lang="en-US" b="true" sz="98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AUTH JWT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5801898" y="3645670"/>
            <a:ext cx="5899311" cy="4114800"/>
          </a:xfrm>
          <a:custGeom>
            <a:avLst/>
            <a:gdLst/>
            <a:ahLst/>
            <a:cxnLst/>
            <a:rect r="r" b="b" t="t" l="l"/>
            <a:pathLst>
              <a:path h="4114800" w="5899311">
                <a:moveTo>
                  <a:pt x="0" y="0"/>
                </a:moveTo>
                <a:lnTo>
                  <a:pt x="5899311" y="0"/>
                </a:lnTo>
                <a:lnTo>
                  <a:pt x="5899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940367" y="4313324"/>
            <a:ext cx="1389746" cy="1389746"/>
          </a:xfrm>
          <a:custGeom>
            <a:avLst/>
            <a:gdLst/>
            <a:ahLst/>
            <a:cxnLst/>
            <a:rect r="r" b="b" t="t" l="l"/>
            <a:pathLst>
              <a:path h="1389746" w="1389746">
                <a:moveTo>
                  <a:pt x="0" y="0"/>
                </a:moveTo>
                <a:lnTo>
                  <a:pt x="1389746" y="0"/>
                </a:lnTo>
                <a:lnTo>
                  <a:pt x="1389746" y="1389746"/>
                </a:lnTo>
                <a:lnTo>
                  <a:pt x="0" y="138974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635240" y="3988015"/>
            <a:ext cx="3691077" cy="2338381"/>
          </a:xfrm>
          <a:custGeom>
            <a:avLst/>
            <a:gdLst/>
            <a:ahLst/>
            <a:cxnLst/>
            <a:rect r="r" b="b" t="t" l="l"/>
            <a:pathLst>
              <a:path h="2338381" w="3691077">
                <a:moveTo>
                  <a:pt x="0" y="0"/>
                </a:moveTo>
                <a:lnTo>
                  <a:pt x="3691077" y="0"/>
                </a:lnTo>
                <a:lnTo>
                  <a:pt x="3691077" y="2338381"/>
                </a:lnTo>
                <a:lnTo>
                  <a:pt x="0" y="233838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7149382" y="5703070"/>
            <a:ext cx="2821000" cy="1581942"/>
          </a:xfrm>
          <a:custGeom>
            <a:avLst/>
            <a:gdLst/>
            <a:ahLst/>
            <a:cxnLst/>
            <a:rect r="r" b="b" t="t" l="l"/>
            <a:pathLst>
              <a:path h="1581942" w="2821000">
                <a:moveTo>
                  <a:pt x="0" y="0"/>
                </a:moveTo>
                <a:lnTo>
                  <a:pt x="2821000" y="0"/>
                </a:lnTo>
                <a:lnTo>
                  <a:pt x="2821000" y="1581941"/>
                </a:lnTo>
                <a:lnTo>
                  <a:pt x="0" y="158194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28700" y="914400"/>
            <a:ext cx="1051464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3 - Tecnologías y Arquitectura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01561" y="2085196"/>
            <a:ext cx="473186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9E65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Stack Tecnológico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36221" y="5535403"/>
            <a:ext cx="1798820" cy="30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b="true" sz="185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14400"/>
            <a:ext cx="69315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4 - Roles y Permisos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383615"/>
            <a:ext cx="16230600" cy="6970059"/>
            <a:chOff x="0" y="0"/>
            <a:chExt cx="21640800" cy="929341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1621750" cy="9293412"/>
              <a:chOff x="0" y="0"/>
              <a:chExt cx="4270963" cy="183573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270963" cy="1835736"/>
              </a:xfrm>
              <a:custGeom>
                <a:avLst/>
                <a:gdLst/>
                <a:ahLst/>
                <a:cxnLst/>
                <a:rect r="r" b="b" t="t" l="l"/>
                <a:pathLst>
                  <a:path h="1835736" w="4270963">
                    <a:moveTo>
                      <a:pt x="0" y="0"/>
                    </a:moveTo>
                    <a:lnTo>
                      <a:pt x="4270963" y="0"/>
                    </a:lnTo>
                    <a:lnTo>
                      <a:pt x="4270963" y="1835736"/>
                    </a:lnTo>
                    <a:lnTo>
                      <a:pt x="0" y="1835736"/>
                    </a:ln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4270963" cy="18643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1621750" cy="1969484"/>
              <a:chOff x="0" y="0"/>
              <a:chExt cx="5925690" cy="53976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925690" cy="539760"/>
              </a:xfrm>
              <a:custGeom>
                <a:avLst/>
                <a:gdLst/>
                <a:ahLst/>
                <a:cxnLst/>
                <a:rect r="r" b="b" t="t" l="l"/>
                <a:pathLst>
                  <a:path h="539760" w="5925690">
                    <a:moveTo>
                      <a:pt x="0" y="0"/>
                    </a:moveTo>
                    <a:lnTo>
                      <a:pt x="5925690" y="0"/>
                    </a:lnTo>
                    <a:lnTo>
                      <a:pt x="5925690" y="539760"/>
                    </a:lnTo>
                    <a:lnTo>
                      <a:pt x="0" y="539760"/>
                    </a:lnTo>
                    <a:close/>
                  </a:path>
                </a:pathLst>
              </a:custGeom>
              <a:solidFill>
                <a:srgbClr val="643389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5925690" cy="568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7948952" y="0"/>
              <a:ext cx="3691848" cy="9293412"/>
              <a:chOff x="0" y="0"/>
              <a:chExt cx="729254" cy="183573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29254" cy="1835736"/>
              </a:xfrm>
              <a:custGeom>
                <a:avLst/>
                <a:gdLst/>
                <a:ahLst/>
                <a:cxnLst/>
                <a:rect r="r" b="b" t="t" l="l"/>
                <a:pathLst>
                  <a:path h="1835736" w="729254">
                    <a:moveTo>
                      <a:pt x="0" y="0"/>
                    </a:moveTo>
                    <a:lnTo>
                      <a:pt x="729254" y="0"/>
                    </a:lnTo>
                    <a:lnTo>
                      <a:pt x="729254" y="1835736"/>
                    </a:lnTo>
                    <a:lnTo>
                      <a:pt x="0" y="1835736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729254" cy="18643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0981288" y="0"/>
              <a:ext cx="3695757" cy="9293412"/>
              <a:chOff x="0" y="0"/>
              <a:chExt cx="730026" cy="183573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30026" cy="1835736"/>
              </a:xfrm>
              <a:custGeom>
                <a:avLst/>
                <a:gdLst/>
                <a:ahLst/>
                <a:cxnLst/>
                <a:rect r="r" b="b" t="t" l="l"/>
                <a:pathLst>
                  <a:path h="1835736" w="730026">
                    <a:moveTo>
                      <a:pt x="0" y="0"/>
                    </a:moveTo>
                    <a:lnTo>
                      <a:pt x="730026" y="0"/>
                    </a:lnTo>
                    <a:lnTo>
                      <a:pt x="730026" y="1835736"/>
                    </a:lnTo>
                    <a:lnTo>
                      <a:pt x="0" y="1835736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730026" cy="18643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9334969" y="355517"/>
              <a:ext cx="919813" cy="1258451"/>
            </a:xfrm>
            <a:custGeom>
              <a:avLst/>
              <a:gdLst/>
              <a:ahLst/>
              <a:cxnLst/>
              <a:rect r="r" b="b" t="t" l="l"/>
              <a:pathLst>
                <a:path h="1258451" w="919813">
                  <a:moveTo>
                    <a:pt x="0" y="0"/>
                  </a:moveTo>
                  <a:lnTo>
                    <a:pt x="919813" y="0"/>
                  </a:lnTo>
                  <a:lnTo>
                    <a:pt x="919813" y="1258451"/>
                  </a:lnTo>
                  <a:lnTo>
                    <a:pt x="0" y="1258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817626" y="355517"/>
              <a:ext cx="990744" cy="1258451"/>
            </a:xfrm>
            <a:custGeom>
              <a:avLst/>
              <a:gdLst/>
              <a:ahLst/>
              <a:cxnLst/>
              <a:rect r="r" b="b" t="t" l="l"/>
              <a:pathLst>
                <a:path h="1258451" w="990744">
                  <a:moveTo>
                    <a:pt x="0" y="0"/>
                  </a:moveTo>
                  <a:lnTo>
                    <a:pt x="990744" y="0"/>
                  </a:lnTo>
                  <a:lnTo>
                    <a:pt x="990744" y="1258451"/>
                  </a:lnTo>
                  <a:lnTo>
                    <a:pt x="0" y="1258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2269728" y="355517"/>
              <a:ext cx="1118877" cy="1258451"/>
            </a:xfrm>
            <a:custGeom>
              <a:avLst/>
              <a:gdLst/>
              <a:ahLst/>
              <a:cxnLst/>
              <a:rect r="r" b="b" t="t" l="l"/>
              <a:pathLst>
                <a:path h="1258451" w="1118877">
                  <a:moveTo>
                    <a:pt x="0" y="0"/>
                  </a:moveTo>
                  <a:lnTo>
                    <a:pt x="1118877" y="0"/>
                  </a:lnTo>
                  <a:lnTo>
                    <a:pt x="1118877" y="1258451"/>
                  </a:lnTo>
                  <a:lnTo>
                    <a:pt x="0" y="1258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0" y="1918684"/>
              <a:ext cx="11032880" cy="7374727"/>
              <a:chOff x="0" y="0"/>
              <a:chExt cx="2179334" cy="145673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79334" cy="1456736"/>
              </a:xfrm>
              <a:custGeom>
                <a:avLst/>
                <a:gdLst/>
                <a:ahLst/>
                <a:cxnLst/>
                <a:rect r="r" b="b" t="t" l="l"/>
                <a:pathLst>
                  <a:path h="1456736" w="2179334">
                    <a:moveTo>
                      <a:pt x="0" y="0"/>
                    </a:moveTo>
                    <a:lnTo>
                      <a:pt x="2179334" y="0"/>
                    </a:lnTo>
                    <a:lnTo>
                      <a:pt x="2179334" y="1456736"/>
                    </a:lnTo>
                    <a:lnTo>
                      <a:pt x="0" y="1456736"/>
                    </a:lnTo>
                    <a:close/>
                  </a:path>
                </a:pathLst>
              </a:custGeom>
              <a:solidFill>
                <a:srgbClr val="3C1659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2179334" cy="14853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6796696"/>
              <a:ext cx="21640800" cy="2496716"/>
              <a:chOff x="0" y="0"/>
              <a:chExt cx="4274726" cy="49317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274726" cy="493178"/>
              </a:xfrm>
              <a:custGeom>
                <a:avLst/>
                <a:gdLst/>
                <a:ahLst/>
                <a:cxnLst/>
                <a:rect r="r" b="b" t="t" l="l"/>
                <a:pathLst>
                  <a:path h="493178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493178"/>
                    </a:lnTo>
                    <a:lnTo>
                      <a:pt x="0" y="493178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4274726" cy="5217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1918684"/>
              <a:ext cx="21621750" cy="2496716"/>
              <a:chOff x="0" y="0"/>
              <a:chExt cx="4270963" cy="49317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270963" cy="493178"/>
              </a:xfrm>
              <a:custGeom>
                <a:avLst/>
                <a:gdLst/>
                <a:ahLst/>
                <a:cxnLst/>
                <a:rect r="r" b="b" t="t" l="l"/>
                <a:pathLst>
                  <a:path h="493178" w="4270963">
                    <a:moveTo>
                      <a:pt x="0" y="0"/>
                    </a:moveTo>
                    <a:lnTo>
                      <a:pt x="4270963" y="0"/>
                    </a:lnTo>
                    <a:lnTo>
                      <a:pt x="4270963" y="493178"/>
                    </a:lnTo>
                    <a:lnTo>
                      <a:pt x="0" y="493178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4270963" cy="5217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12182230" y="2520106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5666062" y="2520106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9147940" y="2520106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5666062" y="5000372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9147940" y="5000372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9147940" y="7398118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2187790" y="5000372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3451843" y="484362"/>
              <a:ext cx="4129194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FUNCIONES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064189" y="2062487"/>
              <a:ext cx="4904501" cy="2161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3855" indent="-201928" lvl="1">
                <a:lnSpc>
                  <a:spcPts val="2618"/>
                </a:lnSpc>
                <a:buFont typeface="Arial"/>
                <a:buChar char="•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Reservar Pista</a:t>
              </a:r>
            </a:p>
            <a:p>
              <a:pPr algn="l" marL="403855" indent="-201928" lvl="1">
                <a:lnSpc>
                  <a:spcPts val="2618"/>
                </a:lnSpc>
                <a:buFont typeface="Arial"/>
                <a:buChar char="•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 historial propio</a:t>
              </a:r>
            </a:p>
            <a:p>
              <a:pPr algn="l" marL="403855" indent="-201928" lvl="1">
                <a:lnSpc>
                  <a:spcPts val="2618"/>
                </a:lnSpc>
                <a:buFont typeface="Arial"/>
                <a:buChar char="•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 sus propias estadísticas</a:t>
              </a:r>
            </a:p>
            <a:p>
              <a:pPr algn="l" marL="403855" indent="-201928" lvl="1">
                <a:lnSpc>
                  <a:spcPts val="2618"/>
                </a:lnSpc>
                <a:buFont typeface="Arial"/>
                <a:buChar char="•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Generar avatar</a:t>
              </a:r>
            </a:p>
            <a:p>
              <a:pPr algn="l" marL="403855" indent="-201928" lvl="1">
                <a:lnSpc>
                  <a:spcPts val="2618"/>
                </a:lnSpc>
                <a:buFont typeface="Arial"/>
                <a:buChar char="•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 avisos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091068" y="5154656"/>
              <a:ext cx="4877622" cy="855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3855" indent="-201928" lvl="1">
                <a:lnSpc>
                  <a:spcPts val="2618"/>
                </a:lnSpc>
                <a:buFont typeface="Arial"/>
                <a:buChar char="•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Añadir/retirar un objeto </a:t>
              </a:r>
            </a:p>
            <a:p>
              <a:pPr algn="l" marL="403855" indent="-201928" lvl="1">
                <a:lnSpc>
                  <a:spcPts val="2618"/>
                </a:lnSpc>
                <a:buFont typeface="Arial"/>
                <a:buChar char="•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 su stock en el inventario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091068" y="6940499"/>
              <a:ext cx="5004492" cy="2161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3855" indent="-201928" lvl="1">
                <a:lnSpc>
                  <a:spcPts val="2618"/>
                </a:lnSpc>
                <a:buFont typeface="Arial"/>
                <a:buChar char="•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Control total panel admin</a:t>
              </a:r>
            </a:p>
            <a:p>
              <a:pPr algn="l" marL="807711" indent="-269237" lvl="2">
                <a:lnSpc>
                  <a:spcPts val="2618"/>
                </a:lnSpc>
                <a:buFont typeface="Arial"/>
                <a:buChar char="⚬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Cambiar roles</a:t>
              </a:r>
            </a:p>
            <a:p>
              <a:pPr algn="l" marL="807711" indent="-269237" lvl="2">
                <a:lnSpc>
                  <a:spcPts val="2618"/>
                </a:lnSpc>
                <a:buFont typeface="Arial"/>
                <a:buChar char="⚬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Gestión instalaciones</a:t>
              </a:r>
            </a:p>
            <a:p>
              <a:pPr algn="l" marL="807711" indent="-269237" lvl="2">
                <a:lnSpc>
                  <a:spcPts val="2618"/>
                </a:lnSpc>
                <a:buFont typeface="Arial"/>
                <a:buChar char="⚬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Cancelar reservas ajenas</a:t>
              </a:r>
            </a:p>
            <a:p>
              <a:pPr algn="l" marL="807711" indent="-269237" lvl="2">
                <a:lnSpc>
                  <a:spcPts val="2618"/>
                </a:lnSpc>
                <a:buFont typeface="Arial"/>
                <a:buChar char="⚬"/>
              </a:pPr>
              <a:r>
                <a:rPr lang="en-US" b="true" sz="187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Estadísticas totales</a:t>
              </a:r>
            </a:p>
          </p:txBody>
        </p:sp>
        <p:sp>
          <p:nvSpPr>
            <p:cNvPr name="Freeform 42" id="42"/>
            <p:cNvSpPr/>
            <p:nvPr/>
          </p:nvSpPr>
          <p:spPr>
            <a:xfrm flipH="false" flipV="false" rot="0">
              <a:off x="12182230" y="7398118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666062" y="7398118"/>
              <a:ext cx="1293872" cy="1293872"/>
            </a:xfrm>
            <a:custGeom>
              <a:avLst/>
              <a:gdLst/>
              <a:ahLst/>
              <a:cxnLst/>
              <a:rect r="r" b="b" t="t" l="l"/>
              <a:pathLst>
                <a:path h="1293872" w="1293872">
                  <a:moveTo>
                    <a:pt x="0" y="0"/>
                  </a:moveTo>
                  <a:lnTo>
                    <a:pt x="1293872" y="0"/>
                  </a:lnTo>
                  <a:lnTo>
                    <a:pt x="1293872" y="1293872"/>
                  </a:lnTo>
                  <a:lnTo>
                    <a:pt x="0" y="129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6400415" y="3426036"/>
            <a:ext cx="3596379" cy="758509"/>
          </a:xfrm>
          <a:custGeom>
            <a:avLst/>
            <a:gdLst/>
            <a:ahLst/>
            <a:cxnLst/>
            <a:rect r="r" b="b" t="t" l="l"/>
            <a:pathLst>
              <a:path h="758509" w="3596379">
                <a:moveTo>
                  <a:pt x="0" y="0"/>
                </a:moveTo>
                <a:lnTo>
                  <a:pt x="3596379" y="0"/>
                </a:lnTo>
                <a:lnTo>
                  <a:pt x="3596379" y="758509"/>
                </a:lnTo>
                <a:lnTo>
                  <a:pt x="0" y="7585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14400"/>
            <a:ext cx="581326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5 - Demo en vivo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63420" y="3349836"/>
            <a:ext cx="394382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9E65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Enlace a la app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89962" y="1028700"/>
            <a:ext cx="5817189" cy="4114800"/>
            <a:chOff x="0" y="0"/>
            <a:chExt cx="7756253" cy="548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03593" y="0"/>
              <a:ext cx="4749067" cy="4761090"/>
            </a:xfrm>
            <a:custGeom>
              <a:avLst/>
              <a:gdLst/>
              <a:ahLst/>
              <a:cxnLst/>
              <a:rect r="r" b="b" t="t" l="l"/>
              <a:pathLst>
                <a:path h="4761090" w="4749067">
                  <a:moveTo>
                    <a:pt x="0" y="0"/>
                  </a:moveTo>
                  <a:lnTo>
                    <a:pt x="4749067" y="0"/>
                  </a:lnTo>
                  <a:lnTo>
                    <a:pt x="4749067" y="4761090"/>
                  </a:lnTo>
                  <a:lnTo>
                    <a:pt x="0" y="4761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540" r="0" b="0"/>
              </a:stretch>
            </a:blipFill>
            <a:ln w="76200" cap="sq">
              <a:solidFill>
                <a:srgbClr val="DCAFF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4970780"/>
              <a:ext cx="7756253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u="sng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8" tooltip="https://kore-manager.vercel.app"/>
                </a:rPr>
                <a:t>https://kore-manager.vercel.app/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34845" y="5067300"/>
            <a:ext cx="34028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9E65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Credenciales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352023" y="6188684"/>
            <a:ext cx="3902674" cy="3557418"/>
            <a:chOff x="0" y="0"/>
            <a:chExt cx="5203566" cy="474322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203566" cy="4743223"/>
              <a:chOff x="0" y="0"/>
              <a:chExt cx="1702302" cy="15517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702302" cy="1551705"/>
              </a:xfrm>
              <a:custGeom>
                <a:avLst/>
                <a:gdLst/>
                <a:ahLst/>
                <a:cxnLst/>
                <a:rect r="r" b="b" t="t" l="l"/>
                <a:pathLst>
                  <a:path h="1551705" w="1702302">
                    <a:moveTo>
                      <a:pt x="15870" y="0"/>
                    </a:moveTo>
                    <a:lnTo>
                      <a:pt x="1686432" y="0"/>
                    </a:lnTo>
                    <a:cubicBezTo>
                      <a:pt x="1690641" y="0"/>
                      <a:pt x="1694678" y="1672"/>
                      <a:pt x="1697654" y="4648"/>
                    </a:cubicBezTo>
                    <a:cubicBezTo>
                      <a:pt x="1700630" y="7624"/>
                      <a:pt x="1702302" y="11661"/>
                      <a:pt x="1702302" y="15870"/>
                    </a:cubicBezTo>
                    <a:lnTo>
                      <a:pt x="1702302" y="1535835"/>
                    </a:lnTo>
                    <a:cubicBezTo>
                      <a:pt x="1702302" y="1540044"/>
                      <a:pt x="1700630" y="1544081"/>
                      <a:pt x="1697654" y="1547057"/>
                    </a:cubicBezTo>
                    <a:cubicBezTo>
                      <a:pt x="1694678" y="1550033"/>
                      <a:pt x="1690641" y="1551705"/>
                      <a:pt x="1686432" y="1551705"/>
                    </a:cubicBezTo>
                    <a:lnTo>
                      <a:pt x="15870" y="1551705"/>
                    </a:lnTo>
                    <a:cubicBezTo>
                      <a:pt x="11661" y="1551705"/>
                      <a:pt x="7624" y="1550033"/>
                      <a:pt x="4648" y="1547057"/>
                    </a:cubicBezTo>
                    <a:cubicBezTo>
                      <a:pt x="1672" y="1544081"/>
                      <a:pt x="0" y="1540044"/>
                      <a:pt x="0" y="1535835"/>
                    </a:cubicBezTo>
                    <a:lnTo>
                      <a:pt x="0" y="15870"/>
                    </a:lnTo>
                    <a:cubicBezTo>
                      <a:pt x="0" y="11661"/>
                      <a:pt x="1672" y="7624"/>
                      <a:pt x="4648" y="4648"/>
                    </a:cubicBezTo>
                    <a:cubicBezTo>
                      <a:pt x="7624" y="1672"/>
                      <a:pt x="11661" y="0"/>
                      <a:pt x="15870" y="0"/>
                    </a:cubicBezTo>
                    <a:close/>
                  </a:path>
                </a:pathLst>
              </a:custGeom>
              <a:solidFill>
                <a:srgbClr val="0F0F1A"/>
              </a:solidFill>
              <a:ln w="38100" cap="sq">
                <a:solidFill>
                  <a:srgbClr val="CCFF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702302" cy="1589805"/>
              </a:xfrm>
              <a:prstGeom prst="rect">
                <a:avLst/>
              </a:prstGeom>
            </p:spPr>
            <p:txBody>
              <a:bodyPr anchor="ctr" rtlCol="false" tIns="30673" lIns="30673" bIns="30673" rIns="30673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419201" y="164732"/>
              <a:ext cx="2365163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CCFF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Conserje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86224" y="1996296"/>
              <a:ext cx="4831080" cy="375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5"/>
                </a:lnSpc>
                <a:spcBef>
                  <a:spcPct val="0"/>
                </a:spcBef>
              </a:pPr>
              <a:r>
                <a:rPr lang="en-US" b="true" sz="166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koreManagerConserje@gmail.com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27238" y="2689581"/>
              <a:ext cx="2149052" cy="375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4"/>
                </a:lnSpc>
                <a:spcBef>
                  <a:spcPct val="0"/>
                </a:spcBef>
              </a:pPr>
              <a:r>
                <a:rPr lang="en-US" b="true" sz="176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Conserje1234!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34845" y="6188684"/>
            <a:ext cx="3902674" cy="3557418"/>
            <a:chOff x="0" y="0"/>
            <a:chExt cx="5203566" cy="474322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203566" cy="4743223"/>
              <a:chOff x="0" y="0"/>
              <a:chExt cx="1027865" cy="9369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27865" cy="936933"/>
              </a:xfrm>
              <a:custGeom>
                <a:avLst/>
                <a:gdLst/>
                <a:ahLst/>
                <a:cxnLst/>
                <a:rect r="r" b="b" t="t" l="l"/>
                <a:pathLst>
                  <a:path h="936933" w="1027865">
                    <a:moveTo>
                      <a:pt x="15870" y="0"/>
                    </a:moveTo>
                    <a:lnTo>
                      <a:pt x="1011995" y="0"/>
                    </a:lnTo>
                    <a:cubicBezTo>
                      <a:pt x="1016204" y="0"/>
                      <a:pt x="1020240" y="1672"/>
                      <a:pt x="1023217" y="4648"/>
                    </a:cubicBezTo>
                    <a:cubicBezTo>
                      <a:pt x="1026193" y="7624"/>
                      <a:pt x="1027865" y="11661"/>
                      <a:pt x="1027865" y="15870"/>
                    </a:cubicBezTo>
                    <a:lnTo>
                      <a:pt x="1027865" y="921063"/>
                    </a:lnTo>
                    <a:cubicBezTo>
                      <a:pt x="1027865" y="925272"/>
                      <a:pt x="1026193" y="929309"/>
                      <a:pt x="1023217" y="932285"/>
                    </a:cubicBezTo>
                    <a:cubicBezTo>
                      <a:pt x="1020240" y="935261"/>
                      <a:pt x="1016204" y="936933"/>
                      <a:pt x="1011995" y="936933"/>
                    </a:cubicBezTo>
                    <a:lnTo>
                      <a:pt x="15870" y="936933"/>
                    </a:lnTo>
                    <a:cubicBezTo>
                      <a:pt x="11661" y="936933"/>
                      <a:pt x="7624" y="935261"/>
                      <a:pt x="4648" y="932285"/>
                    </a:cubicBezTo>
                    <a:cubicBezTo>
                      <a:pt x="1672" y="929309"/>
                      <a:pt x="0" y="925272"/>
                      <a:pt x="0" y="921063"/>
                    </a:cubicBezTo>
                    <a:lnTo>
                      <a:pt x="0" y="15870"/>
                    </a:lnTo>
                    <a:cubicBezTo>
                      <a:pt x="0" y="11661"/>
                      <a:pt x="1672" y="7624"/>
                      <a:pt x="4648" y="4648"/>
                    </a:cubicBezTo>
                    <a:cubicBezTo>
                      <a:pt x="7624" y="1672"/>
                      <a:pt x="11661" y="0"/>
                      <a:pt x="15870" y="0"/>
                    </a:cubicBezTo>
                    <a:close/>
                  </a:path>
                </a:pathLst>
              </a:custGeom>
              <a:solidFill>
                <a:srgbClr val="0F0F1A"/>
              </a:solidFill>
              <a:ln w="38100" cap="sq">
                <a:solidFill>
                  <a:srgbClr val="9E65C2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27865" cy="97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652775" y="164732"/>
              <a:ext cx="1898015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DCAFF8"/>
                  </a:solidFill>
                  <a:latin typeface="Open Sans"/>
                  <a:ea typeface="Open Sans"/>
                  <a:cs typeface="Open Sans"/>
                  <a:sym typeface="Open Sans"/>
                </a:rPr>
                <a:t>ADMIN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39278" y="1996296"/>
              <a:ext cx="4525010" cy="375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5"/>
                </a:lnSpc>
                <a:spcBef>
                  <a:spcPct val="0"/>
                </a:spcBef>
              </a:pPr>
              <a:r>
                <a:rPr lang="en-US" b="true" sz="166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koreManagerAdmin@gmail.com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755034" y="2689581"/>
              <a:ext cx="1824567" cy="375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4"/>
                </a:lnSpc>
                <a:spcBef>
                  <a:spcPct val="0"/>
                </a:spcBef>
              </a:pPr>
              <a:r>
                <a:rPr lang="en-US" b="true" sz="176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Admin1234!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69172" y="6188684"/>
            <a:ext cx="3902674" cy="3557418"/>
            <a:chOff x="0" y="0"/>
            <a:chExt cx="5203566" cy="474322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203566" cy="4743223"/>
              <a:chOff x="0" y="0"/>
              <a:chExt cx="1027865" cy="9369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27865" cy="936933"/>
              </a:xfrm>
              <a:custGeom>
                <a:avLst/>
                <a:gdLst/>
                <a:ahLst/>
                <a:cxnLst/>
                <a:rect r="r" b="b" t="t" l="l"/>
                <a:pathLst>
                  <a:path h="936933" w="1027865">
                    <a:moveTo>
                      <a:pt x="15870" y="0"/>
                    </a:moveTo>
                    <a:lnTo>
                      <a:pt x="1011995" y="0"/>
                    </a:lnTo>
                    <a:cubicBezTo>
                      <a:pt x="1016204" y="0"/>
                      <a:pt x="1020240" y="1672"/>
                      <a:pt x="1023217" y="4648"/>
                    </a:cubicBezTo>
                    <a:cubicBezTo>
                      <a:pt x="1026193" y="7624"/>
                      <a:pt x="1027865" y="11661"/>
                      <a:pt x="1027865" y="15870"/>
                    </a:cubicBezTo>
                    <a:lnTo>
                      <a:pt x="1027865" y="921063"/>
                    </a:lnTo>
                    <a:cubicBezTo>
                      <a:pt x="1027865" y="925272"/>
                      <a:pt x="1026193" y="929309"/>
                      <a:pt x="1023217" y="932285"/>
                    </a:cubicBezTo>
                    <a:cubicBezTo>
                      <a:pt x="1020240" y="935261"/>
                      <a:pt x="1016204" y="936933"/>
                      <a:pt x="1011995" y="936933"/>
                    </a:cubicBezTo>
                    <a:lnTo>
                      <a:pt x="15870" y="936933"/>
                    </a:lnTo>
                    <a:cubicBezTo>
                      <a:pt x="11661" y="936933"/>
                      <a:pt x="7624" y="935261"/>
                      <a:pt x="4648" y="932285"/>
                    </a:cubicBezTo>
                    <a:cubicBezTo>
                      <a:pt x="1672" y="929309"/>
                      <a:pt x="0" y="925272"/>
                      <a:pt x="0" y="921063"/>
                    </a:cubicBezTo>
                    <a:lnTo>
                      <a:pt x="0" y="15870"/>
                    </a:lnTo>
                    <a:cubicBezTo>
                      <a:pt x="0" y="11661"/>
                      <a:pt x="1672" y="7624"/>
                      <a:pt x="4648" y="4648"/>
                    </a:cubicBezTo>
                    <a:cubicBezTo>
                      <a:pt x="7624" y="1672"/>
                      <a:pt x="11661" y="0"/>
                      <a:pt x="15870" y="0"/>
                    </a:cubicBezTo>
                    <a:close/>
                  </a:path>
                </a:pathLst>
              </a:custGeom>
              <a:solidFill>
                <a:srgbClr val="0F0F1A"/>
              </a:solidFill>
              <a:ln w="38100" cap="sq">
                <a:solidFill>
                  <a:srgbClr val="9E65C2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27865" cy="97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905380" y="164732"/>
              <a:ext cx="3392805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DCAFF8"/>
                  </a:solidFill>
                  <a:latin typeface="Open Sans"/>
                  <a:ea typeface="Open Sans"/>
                  <a:cs typeface="Open Sans"/>
                  <a:sym typeface="Open Sans"/>
                </a:rPr>
                <a:t>CIUDADANO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29262" y="1996296"/>
              <a:ext cx="4545041" cy="375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5"/>
                </a:lnSpc>
                <a:spcBef>
                  <a:spcPct val="0"/>
                </a:spcBef>
              </a:pPr>
              <a:r>
                <a:rPr lang="en-US" b="true" sz="166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koreManagerUser@gmail.com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873438" y="2689581"/>
              <a:ext cx="1456690" cy="375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4"/>
                </a:lnSpc>
                <a:spcBef>
                  <a:spcPct val="0"/>
                </a:spcBef>
              </a:pPr>
              <a:r>
                <a:rPr lang="en-US" b="true" sz="176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User1234!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14400"/>
            <a:ext cx="1218184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6 - Escalabilidad y Mejoras Futuras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274087"/>
            <a:ext cx="7461963" cy="5984213"/>
            <a:chOff x="0" y="0"/>
            <a:chExt cx="9949284" cy="797895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949284" cy="7978950"/>
              <a:chOff x="0" y="0"/>
              <a:chExt cx="1965291" cy="157608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65291" cy="1576089"/>
              </a:xfrm>
              <a:custGeom>
                <a:avLst/>
                <a:gdLst/>
                <a:ahLst/>
                <a:cxnLst/>
                <a:rect r="r" b="b" t="t" l="l"/>
                <a:pathLst>
                  <a:path h="1576089" w="1965291">
                    <a:moveTo>
                      <a:pt x="0" y="0"/>
                    </a:moveTo>
                    <a:lnTo>
                      <a:pt x="1965291" y="0"/>
                    </a:lnTo>
                    <a:lnTo>
                      <a:pt x="1965291" y="1576089"/>
                    </a:lnTo>
                    <a:lnTo>
                      <a:pt x="0" y="1576089"/>
                    </a:lnTo>
                    <a:close/>
                  </a:path>
                </a:pathLst>
              </a:custGeom>
              <a:solidFill>
                <a:srgbClr val="3C1659"/>
              </a:solidFill>
              <a:ln w="38100" cap="sq">
                <a:solidFill>
                  <a:srgbClr val="CCFF00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1965291" cy="160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19270" y="390072"/>
              <a:ext cx="4455372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CCFF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BASE ESCALABLE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19270" y="1369268"/>
              <a:ext cx="8809845" cy="5145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2"/>
                </a:lnSpc>
                <a:spcBef>
                  <a:spcPct val="0"/>
                </a:spcBef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sistema ya es escalable porque...</a:t>
              </a:r>
            </a:p>
            <a:p>
              <a:pPr algn="l" marL="472353" indent="-236176" lvl="1">
                <a:lnSpc>
                  <a:spcPts val="30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Supabase Cloud escala horizontalmente sin cambios en el código</a:t>
              </a:r>
            </a:p>
            <a:p>
              <a:pPr algn="l" marL="472353" indent="-236176" lvl="1">
                <a:lnSpc>
                  <a:spcPts val="30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 arquitectura BaaS elimina la necesidad de gestionar servidores</a:t>
              </a:r>
            </a:p>
            <a:p>
              <a:pPr algn="l" marL="472353" indent="-236176" lvl="1">
                <a:lnSpc>
                  <a:spcPts val="30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sistema RBAC es extensible: añadir un nuevo rol es una única fila en la tabla roles</a:t>
              </a:r>
            </a:p>
            <a:p>
              <a:pPr algn="l" marL="472353" indent="-236176" lvl="1">
                <a:lnSpc>
                  <a:spcPts val="30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frontend usa code splitting: añadir nuevas páginas no aumenta el bundle inicial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3049" y="3274087"/>
            <a:ext cx="7461963" cy="6244109"/>
            <a:chOff x="0" y="0"/>
            <a:chExt cx="9949284" cy="83254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49284" cy="7978950"/>
              <a:chOff x="0" y="0"/>
              <a:chExt cx="1965291" cy="157608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65291" cy="1576089"/>
              </a:xfrm>
              <a:custGeom>
                <a:avLst/>
                <a:gdLst/>
                <a:ahLst/>
                <a:cxnLst/>
                <a:rect r="r" b="b" t="t" l="l"/>
                <a:pathLst>
                  <a:path h="1576089" w="1965291">
                    <a:moveTo>
                      <a:pt x="0" y="0"/>
                    </a:moveTo>
                    <a:lnTo>
                      <a:pt x="1965291" y="0"/>
                    </a:lnTo>
                    <a:lnTo>
                      <a:pt x="1965291" y="1576089"/>
                    </a:lnTo>
                    <a:lnTo>
                      <a:pt x="0" y="1576089"/>
                    </a:lnTo>
                    <a:close/>
                  </a:path>
                </a:pathLst>
              </a:custGeom>
              <a:solidFill>
                <a:srgbClr val="3C1659"/>
              </a:solidFill>
              <a:ln w="38100" cap="sq">
                <a:solidFill>
                  <a:srgbClr val="CCFF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965291" cy="16046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7950375"/>
              <a:ext cx="9949284" cy="375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4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51742" y="390072"/>
              <a:ext cx="4475057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CCFF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Siguientes Pasos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51742" y="1397428"/>
              <a:ext cx="8809845" cy="5664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2353" indent="-236176" lvl="1">
                <a:lnSpc>
                  <a:spcPts val="30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🔔 Notificaciones push</a:t>
              </a: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(Web Push API) Recordatorio 24h antes de la reserva → reduce no-shows</a:t>
              </a:r>
            </a:p>
            <a:p>
              <a:pPr algn="l" marL="472353" indent="-236176" lvl="1">
                <a:lnSpc>
                  <a:spcPts val="30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📅 Reservas recurrentes (semanal) Muy demandado por equipos deportivos fijos</a:t>
              </a:r>
            </a:p>
            <a:p>
              <a:pPr algn="l" marL="472353" indent="-236176" lvl="1">
                <a:lnSpc>
                  <a:spcPts val="30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⏳ Lista de espera en pistas llenas El usuario se apunta; si se cancela, se le notifica automáticamente</a:t>
              </a:r>
            </a:p>
            <a:p>
              <a:pPr algn="l" marL="472353" indent="-236176" lvl="1">
                <a:lnSpc>
                  <a:spcPts val="306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87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💰 Tarifas dinámicas (hora punta/valle) Optimiza la ocupación del complejo</a:t>
              </a:r>
            </a:p>
            <a:p>
              <a:pPr algn="l">
                <a:lnSpc>
                  <a:spcPts val="306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494097"/>
            <a:ext cx="18288000" cy="13647420"/>
          </a:xfrm>
          <a:custGeom>
            <a:avLst/>
            <a:gdLst/>
            <a:ahLst/>
            <a:cxnLst/>
            <a:rect r="r" b="b" t="t" l="l"/>
            <a:pathLst>
              <a:path h="13647420" w="18288000">
                <a:moveTo>
                  <a:pt x="0" y="0"/>
                </a:moveTo>
                <a:lnTo>
                  <a:pt x="18288000" y="0"/>
                </a:lnTo>
                <a:lnTo>
                  <a:pt x="18288000" y="13647420"/>
                </a:lnTo>
                <a:lnTo>
                  <a:pt x="0" y="136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684264"/>
            <a:ext cx="18606720" cy="18606720"/>
          </a:xfrm>
          <a:custGeom>
            <a:avLst/>
            <a:gdLst/>
            <a:ahLst/>
            <a:cxnLst/>
            <a:rect r="r" b="b" t="t" l="l"/>
            <a:pathLst>
              <a:path h="18606720" w="18606720">
                <a:moveTo>
                  <a:pt x="0" y="0"/>
                </a:moveTo>
                <a:lnTo>
                  <a:pt x="18606720" y="0"/>
                </a:lnTo>
                <a:lnTo>
                  <a:pt x="18606720" y="18606720"/>
                </a:lnTo>
                <a:lnTo>
                  <a:pt x="0" y="1860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55185" y="321858"/>
            <a:ext cx="1379654" cy="1839539"/>
          </a:xfrm>
          <a:custGeom>
            <a:avLst/>
            <a:gdLst/>
            <a:ahLst/>
            <a:cxnLst/>
            <a:rect r="r" b="b" t="t" l="l"/>
            <a:pathLst>
              <a:path h="1839539" w="1379654">
                <a:moveTo>
                  <a:pt x="0" y="0"/>
                </a:moveTo>
                <a:lnTo>
                  <a:pt x="1379655" y="0"/>
                </a:lnTo>
                <a:lnTo>
                  <a:pt x="1379655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7" t="-16666" r="0" b="-1922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39297" y="6714070"/>
            <a:ext cx="4128127" cy="1655372"/>
          </a:xfrm>
          <a:custGeom>
            <a:avLst/>
            <a:gdLst/>
            <a:ahLst/>
            <a:cxnLst/>
            <a:rect r="r" b="b" t="t" l="l"/>
            <a:pathLst>
              <a:path h="1655372" w="4128127">
                <a:moveTo>
                  <a:pt x="0" y="0"/>
                </a:moveTo>
                <a:lnTo>
                  <a:pt x="4128126" y="0"/>
                </a:lnTo>
                <a:lnTo>
                  <a:pt x="4128126" y="1655372"/>
                </a:lnTo>
                <a:lnTo>
                  <a:pt x="0" y="1655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54340" y="914400"/>
            <a:ext cx="597931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CCFF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¡Muchas Gracias!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91378" y="2549073"/>
            <a:ext cx="9105244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 por escuchar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gracias a todo el equipo del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IES Albarregas por la calidez y enseñanza durante este curso de desarrollo de aplicaciones web.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DAHK_AkodhA</dc:identifier>
  <dcterms:modified xsi:type="dcterms:W3CDTF">2011-08-01T06:04:30Z</dcterms:modified>
  <cp:revision>1</cp:revision>
  <dc:title>Copia de KoreManager</dc:title>
</cp:coreProperties>
</file>